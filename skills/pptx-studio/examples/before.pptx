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777529d6ee4ffd" /><Relationship Type="http://schemas.openxmlformats.org/officeDocument/2006/relationships/extended-properties" Target="/docProps/app.xml" Id="R86cb1cb8f3bd424e" /><Relationship Type="http://schemas.openxmlformats.org/officeDocument/2006/relationships/officeDocument" Target="/ppt/presentation.xml" Id="R239357faa6a64a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0614f434924dd3"/>
  </p:sldMasterIdLst>
  <p:notesMasterIdLst>
    <p:notesMasterId xmlns:r="http://schemas.openxmlformats.org/officeDocument/2006/relationships" r:id="Rf954a3e68e554885"/>
  </p:notesMasterIdLst>
  <p:sldIdLst>
    <p:sldId xmlns:r="http://schemas.openxmlformats.org/officeDocument/2006/relationships" id="256" r:id="R0454bfb951574b66"/>
    <p:sldId xmlns:r="http://schemas.openxmlformats.org/officeDocument/2006/relationships" id="257" r:id="R824df3029762456c"/>
    <p:sldId xmlns:r="http://schemas.openxmlformats.org/officeDocument/2006/relationships" id="258" r:id="R1793003bc8a24f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d4949230ed40d9" /><Relationship Type="http://schemas.openxmlformats.org/officeDocument/2006/relationships/slideMaster" Target="/ppt/slideMasters/slideMaster1.xml" Id="R2a0614f434924dd3" /><Relationship Type="http://schemas.openxmlformats.org/officeDocument/2006/relationships/notesMaster" Target="/ppt/notesMasters/notesMaster1.xml" Id="Rf954a3e68e554885" /><Relationship Type="http://schemas.openxmlformats.org/officeDocument/2006/relationships/presProps" Target="/ppt/presProps.xml" Id="R7f705767de904942" /><Relationship Type="http://schemas.openxmlformats.org/officeDocument/2006/relationships/tableStyles" Target="/ppt/tableStyles.xml" Id="R2aef0a6ee44d4ec2" /><Relationship Type="http://schemas.openxmlformats.org/officeDocument/2006/relationships/slide" Target="/ppt/slides/slide1.xml" Id="R0454bfb951574b66" /><Relationship Type="http://schemas.openxmlformats.org/officeDocument/2006/relationships/slide" Target="/ppt/slides/slide2.xml" Id="R824df3029762456c" /><Relationship Type="http://schemas.openxmlformats.org/officeDocument/2006/relationships/slide" Target="/ppt/slides/slide3.xml" Id="R1793003bc8a24f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757baa232843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011affd8144566" /><Relationship Type="http://schemas.openxmlformats.org/officeDocument/2006/relationships/notesMaster" Target="/ppt/notesMasters/notesMaster1.xml" Id="R790323769afc46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da6693a452407c" /><Relationship Type="http://schemas.openxmlformats.org/officeDocument/2006/relationships/notesMaster" Target="/ppt/notesMasters/notesMaster1.xml" Id="R1038b751168041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93a6f91a0a46b3" /><Relationship Type="http://schemas.openxmlformats.org/officeDocument/2006/relationships/notesMaster" Target="/ppt/notesMasters/notesMaster1.xml" Id="Rab91efade86249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synthetic example. Initial icon: Lucide Bot. Sources: https://lucide.dev/icons/ ; Lucide package 1.8.0. See assets/LUCIDE-LICENSE.txt.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stage sequence. No dates or elapsed durations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comparison. A redundant textbox intentionally overlaps the table cell in the source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77511f1f54b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392d0535345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cab85dd8447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af620e7d24e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759e31d3d48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bafbb740d44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AB8518-D8DB-4B7A-8FCD-9B57526809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F4688C-2846-4967-9DBD-146825DF1A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6BF35F-7A69-4E9E-BEAA-2B85BD285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AB291D-37D5-4663-AD4B-C9DF4C0D8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0923FC-5604-48F7-91D1-8559ECB95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CEDF4A-DACF-4C25-AFE3-A0C03E386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DAEFA8-9737-4784-A775-1D54E012CA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0FE2F9-3765-4EF9-8FA2-82D85DFF38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B872DA-4BD9-41EA-BE35-359FDCA0F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FFE7E4-BED5-404E-AF93-0996DF9753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72346e70dc4d93" /><Relationship Type="http://schemas.openxmlformats.org/officeDocument/2006/relationships/slideLayout" Target="/ppt/slideLayouts/slideLayout1.xml" Id="R3cab31be9b0e4d69" /><Relationship Type="http://schemas.openxmlformats.org/officeDocument/2006/relationships/slideLayout" Target="/ppt/slideLayouts/slideLayout2.xml" Id="R2a3290edcdf84d15" /><Relationship Type="http://schemas.openxmlformats.org/officeDocument/2006/relationships/slideLayout" Target="/ppt/slideLayouts/slideLayout3.xml" Id="R9f4543ff475347fb" /><Relationship Type="http://schemas.openxmlformats.org/officeDocument/2006/relationships/slideLayout" Target="/ppt/slideLayouts/slideLayout4.xml" Id="R73ee957350634dbf" /><Relationship Type="http://schemas.openxmlformats.org/officeDocument/2006/relationships/slideLayout" Target="/ppt/slideLayouts/slideLayout5.xml" Id="R7c6db6590bb54e3e" /><Relationship Type="http://schemas.openxmlformats.org/officeDocument/2006/relationships/slideLayout" Target="/ppt/slideLayouts/slideLayout6.xml" Id="R7b4e313825154a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ab31be9b0e4d69"/>
    <p:sldLayoutId xmlns:r="http://schemas.openxmlformats.org/officeDocument/2006/relationships" id="2147483650" r:id="R2a3290edcdf84d15"/>
    <p:sldLayoutId xmlns:r="http://schemas.openxmlformats.org/officeDocument/2006/relationships" id="2147483651" r:id="R9f4543ff475347fb"/>
    <p:sldLayoutId xmlns:r="http://schemas.openxmlformats.org/officeDocument/2006/relationships" id="2147483652" r:id="R73ee957350634dbf"/>
    <p:sldLayoutId xmlns:r="http://schemas.openxmlformats.org/officeDocument/2006/relationships" id="2147483653" r:id="R7c6db6590bb54e3e"/>
    <p:sldLayoutId xmlns:r="http://schemas.openxmlformats.org/officeDocument/2006/relationships" id="2147483654" r:id="R7b4e313825154a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0329424d644cf" /><Relationship Type="http://schemas.openxmlformats.org/officeDocument/2006/relationships/image" Target="/ppt/media/image.png" Id="Rb7b9d3f4c00a41e5" /><Relationship Type="http://schemas.openxmlformats.org/officeDocument/2006/relationships/image" Target="/ppt/media/image2.png" Id="R9c1f29d612cb477e" /><Relationship Type="http://schemas.openxmlformats.org/officeDocument/2006/relationships/image" Target="/ppt/media/image3.png" Id="Rfedfcda8dd3e4f21" /><Relationship Type="http://schemas.openxmlformats.org/officeDocument/2006/relationships/notesSlide" Target="/ppt/notesSlides/notesSlide1.xml" Id="R429a9e09810b4f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9666857ae4a55" /><Relationship Type="http://schemas.openxmlformats.org/officeDocument/2006/relationships/notesSlide" Target="/ppt/notesSlides/notesSlide2.xml" Id="Rf378340e6b2747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fc84e7fb948d4" /><Relationship Type="http://schemas.openxmlformats.org/officeDocument/2006/relationships/notesSlide" Target="/ppt/notesSlides/notesSlide3.xml" Id="Rdab0a9c939d24e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BBDADE33-E3CA-417E-A1E1-93C2C8A0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问答服务的三个能力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964CF-853B-4320-AC8B-E929253A1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9d3f4c00a41e5"/>
          <a:stretch xmlns:a="http://schemas.openxmlformats.org/drawingml/2006/main"/>
        </p:blipFill>
        <p:spPr>
          <a:xfrm xmlns:a="http://schemas.openxmlformats.org/drawingml/2006/main">
            <a:off x="1000125" y="193357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label-0">
            <a:extLst xmlns:a="http://schemas.openxmlformats.org/drawingml/2006/main">
              <a:ext uri="{FF2B5EF4-FFF2-40B4-BE49-F238E27FC236}">
                <a16:creationId xmlns:a16="http://schemas.microsoft.com/office/drawing/2014/main" id="{C9EC3AFA-6C13-4E9F-A6B1-520F9C14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66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客服问答</a:t>
            </a:r>
          </a:p>
        </p:txBody>
      </p:sp>
      <p:sp>
        <p:nvSpPr>
          <p:cNvPr id="4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D48C39D3-7F38-4B59-8AD6-227AFE78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解答用户咨询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22393-B1AB-4686-9184-D82F2341EF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f29d612cb477e"/>
          <a:stretch xmlns:a="http://schemas.openxmlformats.org/drawingml/2006/main"/>
        </p:blipFill>
        <p:spPr>
          <a:xfrm xmlns:a="http://schemas.openxmlformats.org/drawingml/2006/main">
            <a:off x="1000125" y="32194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BD50D7B6-4970-43F4-A12A-1E717DD9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527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资料检索</a:t>
            </a:r>
          </a:p>
        </p:txBody>
      </p:sp>
      <p:sp>
        <p:nvSpPr>
          <p:cNvPr id="7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23D9F43B-D36D-4E64-ADD8-BFFA6532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9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查找相关资料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4E954-33E9-44F9-BD61-5F3B23B94E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fcda8dd3e4f21"/>
          <a:stretch xmlns:a="http://schemas.openxmlformats.org/drawingml/2006/main"/>
        </p:blipFill>
        <p:spPr>
          <a:xfrm xmlns:a="http://schemas.openxmlformats.org/drawingml/2006/main">
            <a:off x="1000125" y="450532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E56625BF-D73B-450F-B926-42079E1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会话记忆</a:t>
            </a:r>
          </a:p>
        </p:txBody>
      </p:sp>
      <p:sp>
        <p:nvSpPr>
          <p:cNvPr id="10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242F9C35-E8D8-41A8-9670-6E82B362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读取历史对话</a:t>
            </a:r>
          </a:p>
        </p:txBody>
      </p:sp>
    </p:spTree>
    <p:extLst>
      <p:ext uri="{BB962C8B-B14F-4D97-AF65-F5344CB8AC3E}">
        <p14:creationId xmlns:p14="http://schemas.microsoft.com/office/powerpoint/2010/main" val="841512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02FC784D-58E4-4A66-A03E-19BBD254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项目交付阶段</a:t>
            </a:r>
          </a:p>
        </p:txBody>
      </p:sp>
      <p:sp>
        <p:nvSpPr>
          <p:cNvPr id="2" name="stage-0">
            <a:extLst xmlns:a="http://schemas.openxmlformats.org/drawingml/2006/main">
              <a:ext uri="{FF2B5EF4-FFF2-40B4-BE49-F238E27FC236}">
                <a16:creationId xmlns:a16="http://schemas.microsoft.com/office/drawing/2014/main" id="{F3E89ED9-907B-45C2-87DF-4195E752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需求确认</a:t>
            </a:r>
          </a:p>
        </p:txBody>
      </p:sp>
      <p:sp>
        <p:nvSpPr>
          <p:cNvPr id="3" name="detail-0">
            <a:extLst xmlns:a="http://schemas.openxmlformats.org/drawingml/2006/main">
              <a:ext uri="{FF2B5EF4-FFF2-40B4-BE49-F238E27FC236}">
                <a16:creationId xmlns:a16="http://schemas.microsoft.com/office/drawing/2014/main" id="{BD44D96B-C797-4A16-96B6-93F4A980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478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明确使用场景</a:t>
            </a:r>
          </a:p>
        </p:txBody>
      </p:sp>
      <p:sp>
        <p:nvSpPr>
          <p:cNvPr id="4" name="stage-1">
            <a:extLst xmlns:a="http://schemas.openxmlformats.org/drawingml/2006/main">
              <a:ext uri="{FF2B5EF4-FFF2-40B4-BE49-F238E27FC236}">
                <a16:creationId xmlns:a16="http://schemas.microsoft.com/office/drawing/2014/main" id="{D03A0D11-E434-4301-86C0-7587E26C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原型设计</a:t>
            </a:r>
          </a:p>
        </p:txBody>
      </p:sp>
      <p:sp>
        <p:nvSpPr>
          <p:cNvPr id="5" name="detail-1">
            <a:extLst xmlns:a="http://schemas.openxmlformats.org/drawingml/2006/main">
              <a:ext uri="{FF2B5EF4-FFF2-40B4-BE49-F238E27FC236}">
                <a16:creationId xmlns:a16="http://schemas.microsoft.com/office/drawing/2014/main" id="{917C2696-17F0-4DD8-BB38-2C451833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479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确定交互方案</a:t>
            </a:r>
          </a:p>
        </p:txBody>
      </p:sp>
      <p:sp>
        <p:nvSpPr>
          <p:cNvPr id="6" name="stage-2">
            <a:extLst xmlns:a="http://schemas.openxmlformats.org/drawingml/2006/main">
              <a:ext uri="{FF2B5EF4-FFF2-40B4-BE49-F238E27FC236}">
                <a16:creationId xmlns:a16="http://schemas.microsoft.com/office/drawing/2014/main" id="{45CC1916-6256-4C6D-8C05-BB22D22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联合验证</a:t>
            </a:r>
          </a:p>
        </p:txBody>
      </p:sp>
      <p:sp>
        <p:nvSpPr>
          <p:cNvPr id="7" name="detail-2">
            <a:extLst xmlns:a="http://schemas.openxmlformats.org/drawingml/2006/main">
              <a:ext uri="{FF2B5EF4-FFF2-40B4-BE49-F238E27FC236}">
                <a16:creationId xmlns:a16="http://schemas.microsoft.com/office/drawing/2014/main" id="{A1839146-EE87-432B-8F24-674481E9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481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核对关键流程</a:t>
            </a:r>
          </a:p>
        </p:txBody>
      </p:sp>
      <p:sp>
        <p:nvSpPr>
          <p:cNvPr id="8" name="stage-3">
            <a:extLst xmlns:a="http://schemas.openxmlformats.org/drawingml/2006/main">
              <a:ext uri="{FF2B5EF4-FFF2-40B4-BE49-F238E27FC236}">
                <a16:creationId xmlns:a16="http://schemas.microsoft.com/office/drawing/2014/main" id="{5D31F215-6698-4535-8B06-CFFA1A70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上线交付</a:t>
            </a:r>
          </a:p>
        </p:txBody>
      </p:sp>
      <p:sp>
        <p:nvSpPr>
          <p:cNvPr id="9" name="detail-3">
            <a:extLst xmlns:a="http://schemas.openxmlformats.org/drawingml/2006/main">
              <a:ext uri="{FF2B5EF4-FFF2-40B4-BE49-F238E27FC236}">
                <a16:creationId xmlns:a16="http://schemas.microsoft.com/office/drawing/2014/main" id="{747684B5-9F0E-40E5-9450-12BF08E0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4822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整理交付材料</a:t>
            </a:r>
          </a:p>
        </p:txBody>
      </p:sp>
    </p:spTree>
    <p:extLst>
      <p:ext uri="{BB962C8B-B14F-4D97-AF65-F5344CB8AC3E}">
        <p14:creationId xmlns:p14="http://schemas.microsoft.com/office/powerpoint/2010/main" val="49837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A1DAFA-0969-489F-AEEE-4FF3054F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43"/>
                </a:solidFill>
                <a:latin typeface="Microsoft YaHei"/>
                <a:ea typeface="Microsoft YaHei"/>
                <a:cs typeface="Microsoft YaHei"/>
              </a:rPr>
              <a:t>两种交付形式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6F718-F1EC-41CD-B22C-1D906842A324}"/>
              </a:ext>
            </a:extLst>
          </p:cNvPr>
          <p:cNvGraphicFramePr/>
          <p:nvPr/>
        </p:nvGraphicFramePr>
        <p:xfrm>
          <a:off xmlns:a="http://schemas.openxmlformats.org/drawingml/2006/main" x="762000" y="200025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095750"/>
              </a:tblGrid>
              <a:tr h="833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9DF"/>
                      </a:solidFill>
                      <a:prstDash val="dash"/>
                    </a:lnL>
                    <a:lnR w="9525">
                      <a:solidFill>
                        <a:srgbClr val="CBD9DF"/>
                      </a:solidFill>
                      <a:prstDash val="dash"/>
                    </a:lnR>
                    <a:lnT w="9525">
                      <a:solidFill>
                        <a:srgbClr val="CBD9DF"/>
                      </a:solidFill>
                      <a:prstDash val="dash"/>
                    </a:lnT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演示文稿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T w="9525">
                      <a:solidFill>
                        <a:srgbClr val="CBD9DF"/>
                      </a:solidFill>
                      <a:prstDash val="dash"/>
                    </a:lnT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EA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说明文档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T w="9525">
                      <a:solidFill>
                        <a:srgbClr val="CBD9DF"/>
                      </a:solidFill>
                      <a:prstDash val="dash"/>
                    </a:lnT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EAF3F3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9DF"/>
                      </a:solidFill>
                      <a:prstDash val="dash"/>
                    </a:lnL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现场讲述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独立阅读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内容组织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9DF"/>
                      </a:solidFill>
                      <a:prstDash val="dash"/>
                    </a:lnL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重点与图示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完整说明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输出形式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9DF"/>
                      </a:solidFill>
                      <a:prstDash val="dash"/>
                    </a:lnL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可编辑幻灯片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65E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可检索文档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9DF"/>
                      </a:solidFill>
                      <a:prstDash val="dash"/>
                    </a:lnR>
                    <a:lnB w="9525">
                      <a:solidFill>
                        <a:srgbClr val="CBD9DF"/>
                      </a:solidFill>
                      <a:prstDash val="dash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duplicate-overlay">
            <a:extLst xmlns:a="http://schemas.openxmlformats.org/drawingml/2006/main">
              <a:ext uri="{FF2B5EF4-FFF2-40B4-BE49-F238E27FC236}">
                <a16:creationId xmlns:a16="http://schemas.microsoft.com/office/drawing/2014/main" id="{51124B21-6C03-4010-AF87-2DD1A2F9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E73"/>
                </a:solidFill>
                <a:latin typeface="Microsoft YaHei"/>
                <a:ea typeface="Microsoft YaHei"/>
                <a:cs typeface="Microsoft YaHei"/>
              </a:rPr>
              <a:t>现场讲述</a:t>
            </a:r>
          </a:p>
        </p:txBody>
      </p:sp>
    </p:spTree>
    <p:extLst>
      <p:ext uri="{BB962C8B-B14F-4D97-AF65-F5344CB8AC3E}">
        <p14:creationId xmlns:p14="http://schemas.microsoft.com/office/powerpoint/2010/main" val="139067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2026-10-28T08:45:13.1330000Z</dcterms:created>
  <dcterms:modified xsi:type="dcterms:W3CDTF">2026-10-28T08:45:13.1330000Z</dcterms:modified>
</coreProperties>
</file>